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tagline, then the one line that matters: TrustPay is a payment system that understands the work the payment is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insight the whole product comes from. Pause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chains are the same width on purpose. The top one is mostly empty space, and that space is exactly what every condition falls into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Funding is per milestone, not per project. The client is never exposed for the full amount, and the receiver knows exactly what is 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transitions are enforced server-side and covered by tests. Approve is the only path from submitted to released.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plainly: the score informs the user. It does not gate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evaluators press on. The contribution of every feature is computed exactly, so the explanation cannot disagree with the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Vague completion criteria are the single most common cause of disputes. Catching them before funding is cheaper than resolving them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OTP is bcrypt-hashed, expiring, single-use and attempt-capped, and only the receiver can verify it. Tested both 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Automation that decides who was right would be irresponsible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state of the money is the whole interface.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Deployed and running, not a local demo. The test count is the real figure from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 is a view. Nothing it sends is trusted; every rule is re-checked server-side.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s\TrustPay-main\mobile\assets\android-icon-fore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4290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5800" dirty="0"/>
          </a:p>
        </p:txBody>
      </p:sp>
      <p:sp>
        <p:nvSpPr>
          <p:cNvPr id="4" name="Text 1"/>
          <p:cNvSpPr/>
          <p:nvPr/>
        </p:nvSpPr>
        <p:spPr>
          <a:xfrm>
            <a:off x="777240" y="42793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1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Trust. Protected.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777240" y="4892040"/>
            <a:ext cx="2926080" cy="0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5074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Milestone-based payments with a built-in trust layer.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paid shouldn't depend on trust alone.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don’t want to pay before the work is done."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3794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FREELANCER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411480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don’t want to finish the work without knowing I’ll get paid."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394960" y="2788920"/>
            <a:ext cx="1097280" cy="137160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5440680"/>
            <a:ext cx="4023360" cy="0"/>
          </a:xfrm>
          <a:prstGeom prst="line">
            <a:avLst/>
          </a:prstGeom>
          <a:noFill/>
          <a:ln w="19050">
            <a:solidFill>
              <a:srgbClr val="0B0B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77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isn’t sending money.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 knowing when money should move.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transfer moves money. It carries none of the conditions.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980944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1992" y="2651760"/>
            <a:ext cx="2971800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303520" y="23774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303520" y="2980944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48272" y="2651760"/>
            <a:ext cx="2971800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829800" y="23774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829800" y="2980944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127248"/>
            <a:ext cx="10442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milestone   ·   no completion condition   ·   no protected workflow   ·   no structured approval   ·   no cancellation mechanism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703320"/>
            <a:ext cx="10442448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TRUSTPAY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224528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828032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76272" y="4507992"/>
            <a:ext cx="100584" cy="0"/>
          </a:xfrm>
          <a:prstGeom prst="line">
            <a:avLst/>
          </a:prstGeom>
          <a:noFill/>
          <a:ln w="12700">
            <a:solidFill>
              <a:srgbClr val="6E6E74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2286000" y="4224528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828032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85032" y="4507992"/>
            <a:ext cx="100584" cy="0"/>
          </a:xfrm>
          <a:prstGeom prst="line">
            <a:avLst/>
          </a:prstGeom>
          <a:noFill/>
          <a:ln w="12700">
            <a:solidFill>
              <a:srgbClr val="6E6E74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3794760" y="4224528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794760" y="4828032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93792" y="4507992"/>
            <a:ext cx="100584" cy="0"/>
          </a:xfrm>
          <a:prstGeom prst="line">
            <a:avLst/>
          </a:prstGeom>
          <a:noFill/>
          <a:ln w="12700">
            <a:solidFill>
              <a:srgbClr val="6E6E74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303520" y="4224528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FUNDS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303520" y="4828032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02552" y="4507992"/>
            <a:ext cx="100584" cy="0"/>
          </a:xfrm>
          <a:prstGeom prst="line">
            <a:avLst/>
          </a:prstGeom>
          <a:noFill/>
          <a:ln w="12700">
            <a:solidFill>
              <a:srgbClr val="6E6E7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812280" y="4224528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12280" y="4828032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11312" y="4507992"/>
            <a:ext cx="100584" cy="0"/>
          </a:xfrm>
          <a:prstGeom prst="line">
            <a:avLst/>
          </a:prstGeom>
          <a:noFill/>
          <a:ln w="12700">
            <a:solidFill>
              <a:srgbClr val="6E6E74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8321040" y="4224528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321040" y="4828032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20072" y="4507992"/>
            <a:ext cx="100584" cy="0"/>
          </a:xfrm>
          <a:prstGeom prst="line">
            <a:avLst/>
          </a:prstGeom>
          <a:noFill/>
          <a:ln w="12700">
            <a:solidFill>
              <a:srgbClr val="6E6E74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9829800" y="4224528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4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RELEASE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829800" y="4828032"/>
            <a:ext cx="1389888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03520" y="4828032"/>
            <a:ext cx="5916168" cy="0"/>
          </a:xfrm>
          <a:prstGeom prst="line">
            <a:avLst/>
          </a:prstGeom>
          <a:noFill/>
          <a:ln w="25400">
            <a:solidFill>
              <a:srgbClr val="0B0B0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94760" y="4992624"/>
            <a:ext cx="4407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enters here and stops until the work is approved.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" y="56235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is a state the system knows about. The payment cannot skip one.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project. Clear conditions. Controlled payment.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Development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77240" y="296265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 ₹50,000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3101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32120" y="2240280"/>
            <a:ext cx="0" cy="288036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2240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Design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41080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₹10,000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966960" y="22677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8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97880" y="2697480"/>
            <a:ext cx="548640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2953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41080" y="295351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₹15,000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966960" y="298094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80" kern="0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97880" y="3410712"/>
            <a:ext cx="548640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6667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41080" y="366674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₹10,000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966960" y="369417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8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funded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897880" y="4123944"/>
            <a:ext cx="548640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978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43799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641080" y="43799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₹15,000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966960" y="44074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8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funded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897880" y="4837176"/>
            <a:ext cx="548640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is protected milestone by milestone.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doesn’t move just because someone clicks "Pay."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31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78408" y="2624328"/>
            <a:ext cx="0" cy="164592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07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31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63040" y="2807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78408" y="3191256"/>
            <a:ext cx="0" cy="164592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3741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31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63040" y="33741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SUBMITTED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78408" y="3758184"/>
            <a:ext cx="0" cy="164592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9410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31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REVIEWS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78408" y="4325112"/>
            <a:ext cx="0" cy="164592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5079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31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463040" y="4507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78408" y="4892040"/>
            <a:ext cx="0" cy="164592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074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31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63040" y="5074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537960" y="2240280"/>
            <a:ext cx="0" cy="306324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28803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payment follows the agreement.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086600" y="39776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milestone can only move where the state machine allows. Anything else is refused with a reason, not silently permitted.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Score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 doesn’t just move money. It reads the risk around it.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67512" y="210312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12000" dirty="0"/>
          </a:p>
        </p:txBody>
      </p:sp>
      <p:sp>
        <p:nvSpPr>
          <p:cNvPr id="8" name="Text 6"/>
          <p:cNvSpPr/>
          <p:nvPr/>
        </p:nvSpPr>
        <p:spPr>
          <a:xfrm>
            <a:off x="3154680" y="3200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7724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RISK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20640" y="2148840"/>
            <a:ext cx="0" cy="292608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score considers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2651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history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0" y="305409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behaviour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0" y="34564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clarity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669280" y="38587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patterns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0" y="4261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 history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Unusual activity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intelligence, not a financial decision. A score never blocks a payment on its own.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Explainability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score is useful only when you can understand it.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SCORE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/ 100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RISK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794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 High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0" y="2240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9200" y="2834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milestones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0" y="2834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+ 9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3246120"/>
            <a:ext cx="585216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payment behaviour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875520" y="34015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+ 7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0" y="3813048"/>
            <a:ext cx="585216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previous disputes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875520" y="39684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+ 6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29200" y="4379976"/>
            <a:ext cx="585216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45354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transaction pattern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875520" y="45354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+ 4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029200" y="4946904"/>
            <a:ext cx="585216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532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feature contributes a fixed, inspectable number of points. The reasons are the arithmetic, not a summary written around a score.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1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check the agreement before the money moves.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Development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200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"Complete the website."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0" y="2240280"/>
            <a:ext cx="0" cy="292608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  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0" y="28346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3108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"Completion" is not clearly defined.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703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39776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measurable acceptance criteria.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77240" y="5349240"/>
            <a:ext cx="365760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486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isn’t to replace the user.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to catch unclear conditions early.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should not be one-sided.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231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Requests cancellation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32104" y="2697480"/>
            <a:ext cx="0" cy="237744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777240" y="2916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LOCKED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19125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moves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32104" y="3465576"/>
            <a:ext cx="0" cy="237744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77240" y="36850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39593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 the request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32104" y="4233672"/>
            <a:ext cx="0" cy="237744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777240" y="44531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VERIFICATION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47274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goes to the receiver only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32104" y="5001768"/>
            <a:ext cx="0" cy="237744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777240" y="522122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549554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Returned to the client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0" y="2240280"/>
            <a:ext cx="0" cy="301752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0" y="274320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authenticated receiver can confirm cancellation.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6949440" y="41148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cannot pull protected funds back on their own. That single rule is what makes funding safe to accept.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goes wrong, both sides get a record.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2900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2104" y="2944368"/>
            <a:ext cx="0" cy="109728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944368"/>
            <a:ext cx="0" cy="109728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2104" y="3054096"/>
            <a:ext cx="2688336" cy="0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" y="3054096"/>
            <a:ext cx="0" cy="201168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777240" y="33101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358444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and a timeline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" y="3858768"/>
            <a:ext cx="0" cy="219456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77240" y="40599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SUMMARY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4334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on file, taking no side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32104" y="4608576"/>
            <a:ext cx="0" cy="219456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777240" y="480974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REVIEW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508406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reads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32104" y="5358384"/>
            <a:ext cx="0" cy="219456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77240" y="55595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583387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or refund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2286000"/>
            <a:ext cx="0" cy="292608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28346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summarises.</a:t>
            </a:r>
            <a:endParaRPr lang="en-US" sz="21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makes the final decision.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7132320" y="41605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Funds stay frozen for the whole dispute. Neither side can release or refund while it is open.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81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to see what is happening with your money.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143000" y="2148840"/>
            <a:ext cx="2514600" cy="3703320"/>
          </a:xfrm>
          <a:prstGeom prst="roundRect">
            <a:avLst>
              <a:gd name="adj" fmla="val 6545"/>
            </a:avLst>
          </a:prstGeom>
          <a:solidFill>
            <a:srgbClr val="0B0B0C"/>
          </a:solidFill>
          <a:ln w="12700">
            <a:solidFill>
              <a:srgbClr val="3031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4168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44168" y="280720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344168" y="3017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₹12,400.00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4416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344168" y="36850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8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₹15,000.00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44168" y="4160520"/>
            <a:ext cx="2103120" cy="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4325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 — UI Design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697480" y="43251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₹10,000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344168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— Development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697480" y="47091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₹15,000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344168" y="5093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to wallet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97480" y="509320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₹5,000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" y="59436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screen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23360" y="2148840"/>
            <a:ext cx="0" cy="310896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219456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balance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24688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be spent or withdrawn right now.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0" y="28163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funds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0" y="309067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 to a milestone. Not spendable by either side.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0" y="343814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projects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0" y="371246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milestone and the state it is in.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0" y="405993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Score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433425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standing, with the reasons behind it.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0" y="468172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activity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72000" y="495604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moved, when, and why.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0" y="53949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Balances stay hidden until unlocked with a fingerprint or PIN.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as a real product, not a mockup.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20440" y="21945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 · Expo · TypeScript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77240" y="2596896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2615184"/>
            <a:ext cx="0" cy="219456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777240" y="28529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285292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Python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3255264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4440" y="3273552"/>
            <a:ext cx="0" cy="219456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777240" y="35112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SERVICES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20440" y="351129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· Milestones · Escrow · Payments · Disputes · Notifications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77240" y="3913632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4440" y="3931920"/>
            <a:ext cx="0" cy="219456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777240" y="416966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20440" y="416966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· double-entry ledger · Alembic migrations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77240" y="4572000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34440" y="4590288"/>
            <a:ext cx="0" cy="219456"/>
          </a:xfrm>
          <a:prstGeom prst="line">
            <a:avLst/>
          </a:prstGeom>
          <a:noFill/>
          <a:ln w="12700">
            <a:solidFill>
              <a:srgbClr val="DEDEE1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77240" y="48280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482803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Score · Risk analysis · Agreement analysis · Dispute summary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" y="523036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486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2011680" y="56327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43400" y="5486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5577840" y="56327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909560" y="5486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9144000" y="56327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tables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3031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has to exist in the system, not just in the UI.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423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Rotating refresh tokens with reuse detection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309360" y="2148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309360" y="2423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client funds; only the receiver submits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898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verification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3172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confirmed by the receiver alone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309360" y="2898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transactions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09360" y="3172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release either fully happens or does not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" y="364845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Idempotency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77240" y="39227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retried tap cannot pay twice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0" y="364845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09360" y="39227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financial action recorded with its actor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77240" y="43982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77240" y="46725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 on codes and passwords is bounded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09360" y="43982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Double-entry ledger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309360" y="46725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must sum to zero, balances derived from them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5486400"/>
            <a:ext cx="38404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financial action is validated on the server.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09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80360" y="6309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TrustPay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00055" y="6309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building the trust layer around transactions.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payment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   →    Receive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77240" y="3429000"/>
            <a:ext cx="10241280" cy="0"/>
          </a:xfrm>
          <a:prstGeom prst="line">
            <a:avLst/>
          </a:prstGeom>
          <a:noFill/>
          <a:ln w="9525">
            <a:solidFill>
              <a:srgbClr val="DEDE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657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9776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75688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87168" y="39776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85616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97096" y="39776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95544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39776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05472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616952" y="39776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0" y="39776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4800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Milestones, protected funds, explainable risk, controlled release.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0B0B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THE PRODUCT.</a:t>
            </a:r>
            <a:endParaRPr lang="en-US" sz="3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743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TRUSTPAY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777240" y="3566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1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Trust. Protected.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77240" y="4160520"/>
            <a:ext cx="2377440" cy="0"/>
          </a:xfrm>
          <a:prstGeom prst="line">
            <a:avLst/>
          </a:prstGeom>
          <a:noFill/>
          <a:ln w="12700">
            <a:solidFill>
              <a:srgbClr val="3031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Milestone-based payments for the real world.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TrustPay - Trust. Protected.</dc:title>
  <dc:subject>PptxGenJS Presentation</dc:subject>
  <dc:creator>TrustPay</dc:creator>
  <cp:lastModifiedBy>TrustPay</cp:lastModifiedBy>
  <cp:revision>1</cp:revision>
  <dcterms:created xsi:type="dcterms:W3CDTF">2026-08-25T14:30:36Z</dcterms:created>
  <dcterms:modified xsi:type="dcterms:W3CDTF">2026-08-25T14:30:36Z</dcterms:modified>
</cp:coreProperties>
</file>