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tagline, then the one line that matters: TrustPay is a payment system that understands the work the payment is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insight the whole product comes from. Pause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bank transfer is a fact about money. It carries nothing about what the money was for, so every condition lives outside the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product in one line. Money moves along a state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Funding is per milestone, not per project. The client is never exposed for the full amount, and the receiver knows exactly what is covered.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transitions are enforced server-side and covered by tests. Approve is the only path from submitted to released.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plainly: the score informs the user. It does not gate money.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part evaluators press on. The contribution of every feature is computed exactly, so the explanation cannot disagree with the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Vague completion criteria are the single most common cause of disputes. Catching them before funding is cheaper than resolving them after.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OTP is bcrypt-hashed, expiring, single-use and attempt-capped, and only the receiver can verify it. Tested both ways.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Automation that decides who was right would be irresponsible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state of the money is the whole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Deployed and running, not a local demo. The test count is the real figure from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 is a view. Nothing it sends is trusted; every rule is re-checked server-side.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this. Everything else follows from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jects\TrustPay-main\mobile\assets\android-icon-fore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91640"/>
            <a:ext cx="1737360" cy="1737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34290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TRUSTPAY</a:t>
            </a:r>
            <a:endParaRPr lang="en-US" sz="5800" dirty="0"/>
          </a:p>
        </p:txBody>
      </p:sp>
      <p:sp>
        <p:nvSpPr>
          <p:cNvPr id="4" name="Text 1"/>
          <p:cNvSpPr/>
          <p:nvPr/>
        </p:nvSpPr>
        <p:spPr>
          <a:xfrm>
            <a:off x="777240" y="42793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spc="100" kern="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Trust. Protected.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777240" y="4892040"/>
            <a:ext cx="2926080" cy="0"/>
          </a:xfrm>
          <a:prstGeom prst="line">
            <a:avLst/>
          </a:prstGeom>
          <a:noFill/>
          <a:ln w="12700">
            <a:solidFill>
              <a:srgbClr val="30313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5074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Milestone-based payments with a built-in trust layer.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36208"/>
            <a:ext cx="10637215" cy="0"/>
          </a:xfrm>
          <a:prstGeom prst="line">
            <a:avLst/>
          </a:prstGeom>
          <a:noFill/>
          <a:ln w="9525">
            <a:solidFill>
              <a:srgbClr val="DEDE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309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TRUSTPAY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6309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00055" y="6309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777240"/>
            <a:ext cx="93570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paid shouldn't depend on trust alone.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don’t want to pay before the work is done."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675120" y="37947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FREELANCER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0" y="411480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don’t want to finish the work without knowing I’ll get paid."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394960" y="2788920"/>
            <a:ext cx="1097280" cy="1371600"/>
          </a:xfrm>
          <a:prstGeom prst="line">
            <a:avLst/>
          </a:prstGeom>
          <a:noFill/>
          <a:ln w="12700">
            <a:solidFill>
              <a:srgbClr val="DEDE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5440680"/>
            <a:ext cx="4023360" cy="0"/>
          </a:xfrm>
          <a:prstGeom prst="line">
            <a:avLst/>
          </a:prstGeom>
          <a:noFill/>
          <a:ln w="19050">
            <a:solidFill>
              <a:srgbClr val="0B0B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5778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isn’t sending money.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is knowing when money should move.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36208"/>
            <a:ext cx="10637215" cy="0"/>
          </a:xfrm>
          <a:prstGeom prst="line">
            <a:avLst/>
          </a:prstGeom>
          <a:noFill/>
          <a:ln w="9525">
            <a:solidFill>
              <a:srgbClr val="3031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309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TRUSTPAY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6309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00055" y="6309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777240"/>
            <a:ext cx="93570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payments don't understand the work.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331720" y="2724912"/>
            <a:ext cx="0" cy="667512"/>
          </a:xfrm>
          <a:prstGeom prst="line">
            <a:avLst/>
          </a:prstGeom>
          <a:noFill/>
          <a:ln w="12700">
            <a:solidFill>
              <a:srgbClr val="303136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777240" y="31546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331720" y="3502152"/>
            <a:ext cx="0" cy="667512"/>
          </a:xfrm>
          <a:prstGeom prst="line">
            <a:avLst/>
          </a:prstGeom>
          <a:noFill/>
          <a:ln w="12700">
            <a:solidFill>
              <a:srgbClr val="303136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77240" y="39319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120640" y="2286000"/>
            <a:ext cx="0" cy="2834640"/>
          </a:xfrm>
          <a:prstGeom prst="line">
            <a:avLst/>
          </a:prstGeom>
          <a:noFill/>
          <a:ln w="9525">
            <a:solidFill>
              <a:srgbClr val="3031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2286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transfer never carries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0" y="27889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milestone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60720" y="3200400"/>
            <a:ext cx="4937760" cy="0"/>
          </a:xfrm>
          <a:prstGeom prst="line">
            <a:avLst/>
          </a:prstGeom>
          <a:noFill/>
          <a:ln w="9525">
            <a:solidFill>
              <a:srgbClr val="3031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326440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completion condition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60720" y="3675888"/>
            <a:ext cx="4937760" cy="0"/>
          </a:xfrm>
          <a:prstGeom prst="line">
            <a:avLst/>
          </a:prstGeom>
          <a:noFill/>
          <a:ln w="9525">
            <a:solidFill>
              <a:srgbClr val="3031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373989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protected workflow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60720" y="4151376"/>
            <a:ext cx="4937760" cy="0"/>
          </a:xfrm>
          <a:prstGeom prst="line">
            <a:avLst/>
          </a:prstGeom>
          <a:noFill/>
          <a:ln w="9525">
            <a:solidFill>
              <a:srgbClr val="3031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4215384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structured approval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60720" y="4626864"/>
            <a:ext cx="4937760" cy="0"/>
          </a:xfrm>
          <a:prstGeom prst="line">
            <a:avLst/>
          </a:prstGeom>
          <a:noFill/>
          <a:ln w="9525">
            <a:solidFill>
              <a:srgbClr val="3031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469087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clear cancellation mechanism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760720" y="5102352"/>
            <a:ext cx="4937760" cy="0"/>
          </a:xfrm>
          <a:prstGeom prst="line">
            <a:avLst/>
          </a:prstGeom>
          <a:noFill/>
          <a:ln w="9525">
            <a:solidFill>
              <a:srgbClr val="303136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36208"/>
            <a:ext cx="10637215" cy="0"/>
          </a:xfrm>
          <a:prstGeom prst="line">
            <a:avLst/>
          </a:prstGeom>
          <a:noFill/>
          <a:ln w="9525">
            <a:solidFill>
              <a:srgbClr val="DEDE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309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TRUSTPAY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6309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00055" y="6309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777240"/>
            <a:ext cx="93570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TrustPay adds a trust layer between both sides.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40" kern="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3401568"/>
            <a:ext cx="1389888" cy="0"/>
          </a:xfrm>
          <a:prstGeom prst="line">
            <a:avLst/>
          </a:prstGeom>
          <a:noFill/>
          <a:ln w="12700">
            <a:solidFill>
              <a:srgbClr val="DEDE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76272" y="3017520"/>
            <a:ext cx="100584" cy="0"/>
          </a:xfrm>
          <a:prstGeom prst="line">
            <a:avLst/>
          </a:prstGeom>
          <a:noFill/>
          <a:ln w="12700">
            <a:solidFill>
              <a:srgbClr val="6E6E74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286000" y="269748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40" kern="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286000" y="3401568"/>
            <a:ext cx="1389888" cy="0"/>
          </a:xfrm>
          <a:prstGeom prst="line">
            <a:avLst/>
          </a:prstGeom>
          <a:noFill/>
          <a:ln w="12700">
            <a:solidFill>
              <a:srgbClr val="DEDE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85032" y="3017520"/>
            <a:ext cx="100584" cy="0"/>
          </a:xfrm>
          <a:prstGeom prst="line">
            <a:avLst/>
          </a:prstGeom>
          <a:noFill/>
          <a:ln w="12700">
            <a:solidFill>
              <a:srgbClr val="6E6E74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794760" y="269748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40" kern="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794760" y="3401568"/>
            <a:ext cx="1389888" cy="0"/>
          </a:xfrm>
          <a:prstGeom prst="line">
            <a:avLst/>
          </a:prstGeom>
          <a:noFill/>
          <a:ln w="12700">
            <a:solidFill>
              <a:srgbClr val="DEDE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93792" y="3017520"/>
            <a:ext cx="100584" cy="0"/>
          </a:xfrm>
          <a:prstGeom prst="line">
            <a:avLst/>
          </a:prstGeom>
          <a:noFill/>
          <a:ln w="12700">
            <a:solidFill>
              <a:srgbClr val="6E6E74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303520" y="269748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40" kern="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FUNDS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303520" y="3401568"/>
            <a:ext cx="1389888" cy="0"/>
          </a:xfrm>
          <a:prstGeom prst="line">
            <a:avLst/>
          </a:prstGeom>
          <a:noFill/>
          <a:ln w="12700">
            <a:solidFill>
              <a:srgbClr val="DEDE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02552" y="3017520"/>
            <a:ext cx="100584" cy="0"/>
          </a:xfrm>
          <a:prstGeom prst="line">
            <a:avLst/>
          </a:prstGeom>
          <a:noFill/>
          <a:ln w="12700">
            <a:solidFill>
              <a:srgbClr val="6E6E74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812280" y="269748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40" kern="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12280" y="3401568"/>
            <a:ext cx="1389888" cy="0"/>
          </a:xfrm>
          <a:prstGeom prst="line">
            <a:avLst/>
          </a:prstGeom>
          <a:noFill/>
          <a:ln w="12700">
            <a:solidFill>
              <a:srgbClr val="DEDE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11312" y="3017520"/>
            <a:ext cx="100584" cy="0"/>
          </a:xfrm>
          <a:prstGeom prst="line">
            <a:avLst/>
          </a:prstGeom>
          <a:noFill/>
          <a:ln w="12700">
            <a:solidFill>
              <a:srgbClr val="6E6E74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8321040" y="269748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40" kern="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321040" y="3401568"/>
            <a:ext cx="1389888" cy="0"/>
          </a:xfrm>
          <a:prstGeom prst="line">
            <a:avLst/>
          </a:prstGeom>
          <a:noFill/>
          <a:ln w="12700">
            <a:solidFill>
              <a:srgbClr val="DEDE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20072" y="3017520"/>
            <a:ext cx="100584" cy="0"/>
          </a:xfrm>
          <a:prstGeom prst="line">
            <a:avLst/>
          </a:prstGeom>
          <a:noFill/>
          <a:ln w="12700">
            <a:solidFill>
              <a:srgbClr val="6E6E74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9829800" y="269748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40" kern="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RELEASE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829800" y="3401568"/>
            <a:ext cx="1389888" cy="0"/>
          </a:xfrm>
          <a:prstGeom prst="line">
            <a:avLst/>
          </a:prstGeom>
          <a:noFill/>
          <a:ln w="12700">
            <a:solidFill>
              <a:srgbClr val="DEDE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0" y="3401568"/>
            <a:ext cx="5916168" cy="0"/>
          </a:xfrm>
          <a:prstGeom prst="line">
            <a:avLst/>
          </a:prstGeom>
          <a:noFill/>
          <a:ln w="25400">
            <a:solidFill>
              <a:srgbClr val="0B0B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3584448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money enters here and stops.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77240" y="5074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step is a state the system knows about. The payment cannot skip one.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36208"/>
            <a:ext cx="10637215" cy="0"/>
          </a:xfrm>
          <a:prstGeom prst="line">
            <a:avLst/>
          </a:prstGeom>
          <a:noFill/>
          <a:ln w="9525">
            <a:solidFill>
              <a:srgbClr val="DEDE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309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TRUSTPAY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6309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00055" y="6309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777240"/>
            <a:ext cx="93570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project. Clear conditions. Controlled payment.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4871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Development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777240" y="29626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 ₹50,000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310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532120" y="2240280"/>
            <a:ext cx="0" cy="2880360"/>
          </a:xfrm>
          <a:prstGeom prst="line">
            <a:avLst/>
          </a:prstGeom>
          <a:noFill/>
          <a:ln w="9525">
            <a:solidFill>
              <a:srgbClr val="DEDE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Design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41080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₹10,000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966960" y="226771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80" kern="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97880" y="2697480"/>
            <a:ext cx="5486400" cy="0"/>
          </a:xfrm>
          <a:prstGeom prst="line">
            <a:avLst/>
          </a:prstGeom>
          <a:noFill/>
          <a:ln w="9525">
            <a:solidFill>
              <a:srgbClr val="DEDE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2953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29535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41080" y="295351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₹15,000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966960" y="298094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80" kern="0" dirty="0">
                <a:solidFill>
                  <a:srgbClr val="3F8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97880" y="3410712"/>
            <a:ext cx="5486400" cy="0"/>
          </a:xfrm>
          <a:prstGeom prst="line">
            <a:avLst/>
          </a:prstGeom>
          <a:noFill/>
          <a:ln w="9525">
            <a:solidFill>
              <a:srgbClr val="DEDE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3666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36667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41080" y="366674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₹10,000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966960" y="369417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80" kern="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funded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97880" y="4123944"/>
            <a:ext cx="5486400" cy="0"/>
          </a:xfrm>
          <a:prstGeom prst="line">
            <a:avLst/>
          </a:prstGeom>
          <a:noFill/>
          <a:ln w="9525">
            <a:solidFill>
              <a:srgbClr val="DEDE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4379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43799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641080" y="437997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₹15,000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966960" y="440740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80" kern="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funded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897880" y="4837176"/>
            <a:ext cx="5486400" cy="0"/>
          </a:xfrm>
          <a:prstGeom prst="line">
            <a:avLst/>
          </a:prstGeom>
          <a:noFill/>
          <a:ln w="9525">
            <a:solidFill>
              <a:srgbClr val="DEDE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440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is protected milestone by milestone.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36208"/>
            <a:ext cx="10637215" cy="0"/>
          </a:xfrm>
          <a:prstGeom prst="line">
            <a:avLst/>
          </a:prstGeom>
          <a:noFill/>
          <a:ln w="9525">
            <a:solidFill>
              <a:srgbClr val="3031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309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TRUSTPAY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6309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00055" y="6309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777240"/>
            <a:ext cx="93570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money doesn’t move just because someone clicks "Pay."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3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FUNDED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78408" y="2624328"/>
            <a:ext cx="0" cy="164592"/>
          </a:xfrm>
          <a:prstGeom prst="line">
            <a:avLst/>
          </a:prstGeom>
          <a:noFill/>
          <a:ln w="12700">
            <a:solidFill>
              <a:srgbClr val="3031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8072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3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63040" y="28072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78408" y="3191256"/>
            <a:ext cx="0" cy="164592"/>
          </a:xfrm>
          <a:prstGeom prst="line">
            <a:avLst/>
          </a:prstGeom>
          <a:noFill/>
          <a:ln w="12700">
            <a:solidFill>
              <a:srgbClr val="3031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3741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3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63040" y="33741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SUBMITTED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78408" y="3758184"/>
            <a:ext cx="0" cy="164592"/>
          </a:xfrm>
          <a:prstGeom prst="line">
            <a:avLst/>
          </a:prstGeom>
          <a:noFill/>
          <a:ln w="12700">
            <a:solidFill>
              <a:srgbClr val="3031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9410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3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63040" y="39410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REVIEWS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78408" y="4325112"/>
            <a:ext cx="0" cy="164592"/>
          </a:xfrm>
          <a:prstGeom prst="line">
            <a:avLst/>
          </a:prstGeom>
          <a:noFill/>
          <a:ln w="12700">
            <a:solidFill>
              <a:srgbClr val="3031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5079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3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63040" y="45079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978408" y="4892040"/>
            <a:ext cx="0" cy="164592"/>
          </a:xfrm>
          <a:prstGeom prst="line">
            <a:avLst/>
          </a:prstGeom>
          <a:noFill/>
          <a:ln w="12700">
            <a:solidFill>
              <a:srgbClr val="3031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074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3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63040" y="5074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3F8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RELEASED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537960" y="2240280"/>
            <a:ext cx="0" cy="3063240"/>
          </a:xfrm>
          <a:prstGeom prst="line">
            <a:avLst/>
          </a:prstGeom>
          <a:noFill/>
          <a:ln w="9525">
            <a:solidFill>
              <a:srgbClr val="30313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0" y="288036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payment follows the agreement.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086600" y="397764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milestone can only move where the state machine allows. Anything else is refused with a reason, not silently permitted.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36208"/>
            <a:ext cx="10637215" cy="0"/>
          </a:xfrm>
          <a:prstGeom prst="line">
            <a:avLst/>
          </a:prstGeom>
          <a:noFill/>
          <a:ln w="9525">
            <a:solidFill>
              <a:srgbClr val="DEDE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309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TRUSTPAY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6309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Score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00055" y="6309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777240"/>
            <a:ext cx="93570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80"/>
              </a:lnSpc>
              <a:buNone/>
            </a:pPr>
            <a:r>
              <a:rPr lang="en-US" sz="30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TrustPay doesn’t just move money. It reads the risk around it.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67512" y="210312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12000" dirty="0"/>
          </a:p>
        </p:txBody>
      </p:sp>
      <p:sp>
        <p:nvSpPr>
          <p:cNvPr id="8" name="Text 6"/>
          <p:cNvSpPr/>
          <p:nvPr/>
        </p:nvSpPr>
        <p:spPr>
          <a:xfrm>
            <a:off x="3154680" y="32004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100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7724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50" kern="0" dirty="0">
                <a:solidFill>
                  <a:srgbClr val="3F8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RISK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120640" y="2148840"/>
            <a:ext cx="0" cy="2926080"/>
          </a:xfrm>
          <a:prstGeom prst="line">
            <a:avLst/>
          </a:prstGeom>
          <a:noFill/>
          <a:ln w="9525">
            <a:solidFill>
              <a:srgbClr val="DEDE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score considers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0" y="2651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history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69280" y="305409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behaviour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69280" y="34564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clarity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669280" y="3858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 patterns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669280" y="426110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Dispute history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66928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Unusual activity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5623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intelligence, not a financial decision. A score never blocks a payment on its own.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36208"/>
            <a:ext cx="10637215" cy="0"/>
          </a:xfrm>
          <a:prstGeom prst="line">
            <a:avLst/>
          </a:prstGeom>
          <a:noFill/>
          <a:ln w="9525">
            <a:solidFill>
              <a:srgbClr val="DEDE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309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TRUSTPAY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6309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00055" y="6309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777240"/>
            <a:ext cx="93570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score is useful only when you can understand it.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SCORE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 / 100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7724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8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RISK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794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 High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29200" y="2834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milestones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875520" y="28346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F8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+ 9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0" y="3246120"/>
            <a:ext cx="5852160" cy="0"/>
          </a:xfrm>
          <a:prstGeom prst="line">
            <a:avLst/>
          </a:prstGeom>
          <a:noFill/>
          <a:ln w="9525">
            <a:solidFill>
              <a:srgbClr val="DEDE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34015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payment behaviour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875520" y="34015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F8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+ 7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0" y="3813048"/>
            <a:ext cx="5852160" cy="0"/>
          </a:xfrm>
          <a:prstGeom prst="line">
            <a:avLst/>
          </a:prstGeom>
          <a:noFill/>
          <a:ln w="9525">
            <a:solidFill>
              <a:srgbClr val="DEDE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9684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previous disputes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875520" y="396849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F8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+ 6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029200" y="4379976"/>
            <a:ext cx="5852160" cy="0"/>
          </a:xfrm>
          <a:prstGeom prst="line">
            <a:avLst/>
          </a:prstGeom>
          <a:noFill/>
          <a:ln w="9525">
            <a:solidFill>
              <a:srgbClr val="DEDE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45354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transaction pattern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875520" y="453542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F8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+ 4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029200" y="4946904"/>
            <a:ext cx="5852160" cy="0"/>
          </a:xfrm>
          <a:prstGeom prst="line">
            <a:avLst/>
          </a:prstGeom>
          <a:noFill/>
          <a:ln w="9525">
            <a:solidFill>
              <a:srgbClr val="DEDE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532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feature contributes a fixed, inspectable number of points. The reasons are the arithmetic, not a summary written around a score.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1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36208"/>
            <a:ext cx="10637215" cy="0"/>
          </a:xfrm>
          <a:prstGeom prst="line">
            <a:avLst/>
          </a:prstGeom>
          <a:noFill/>
          <a:ln w="9525">
            <a:solidFill>
              <a:srgbClr val="3031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309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TRUSTPAY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6309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Agreement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00055" y="6309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777240"/>
            <a:ext cx="93570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check the agreement before the money moves.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Development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77240" y="3200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3474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"Complete the website."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7724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0" y="2240280"/>
            <a:ext cx="0" cy="2926080"/>
          </a:xfrm>
          <a:prstGeom prst="line">
            <a:avLst/>
          </a:prstGeom>
          <a:noFill/>
          <a:ln w="9525">
            <a:solidFill>
              <a:srgbClr val="3031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7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   Medium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0" y="28346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3108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"Completion" is not clearly defined.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3703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92240" y="3977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measurable acceptance criteria.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77240" y="5349240"/>
            <a:ext cx="36576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486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 isn’t to replace the user.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It’s to catch unclear conditions early.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36208"/>
            <a:ext cx="10637215" cy="0"/>
          </a:xfrm>
          <a:prstGeom prst="line">
            <a:avLst/>
          </a:prstGeom>
          <a:noFill/>
          <a:ln w="9525">
            <a:solidFill>
              <a:srgbClr val="3031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309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TRUSTPAY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6309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00055" y="6309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777240"/>
            <a:ext cx="93570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 should not be one-sided.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cancellation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32104" y="2697480"/>
            <a:ext cx="0" cy="237744"/>
          </a:xfrm>
          <a:prstGeom prst="line">
            <a:avLst/>
          </a:prstGeom>
          <a:noFill/>
          <a:ln w="12700">
            <a:solidFill>
              <a:srgbClr val="303136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777240" y="291693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LOCKED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19125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moves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32104" y="3465576"/>
            <a:ext cx="0" cy="237744"/>
          </a:xfrm>
          <a:prstGeom prst="line">
            <a:avLst/>
          </a:prstGeom>
          <a:noFill/>
          <a:ln w="12700">
            <a:solidFill>
              <a:srgbClr val="303136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77240" y="36850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395935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 the request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32104" y="4233672"/>
            <a:ext cx="0" cy="237744"/>
          </a:xfrm>
          <a:prstGeom prst="line">
            <a:avLst/>
          </a:prstGeom>
          <a:noFill/>
          <a:ln w="12700">
            <a:solidFill>
              <a:srgbClr val="303136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77240" y="44531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OTP VERIFICATION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472744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goes to the receiver only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32104" y="5001768"/>
            <a:ext cx="0" cy="237744"/>
          </a:xfrm>
          <a:prstGeom prst="line">
            <a:avLst/>
          </a:prstGeom>
          <a:noFill/>
          <a:ln w="12700">
            <a:solidFill>
              <a:srgbClr val="303136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777240" y="522122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549554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Returned to the client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0" y="2240280"/>
            <a:ext cx="0" cy="3017520"/>
          </a:xfrm>
          <a:prstGeom prst="line">
            <a:avLst/>
          </a:prstGeom>
          <a:noFill/>
          <a:ln w="9525">
            <a:solidFill>
              <a:srgbClr val="3031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274320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authenticated receiver can confirm cancellation.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6949440" y="41148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cannot pull protected funds back on their own. That single rule is what makes funding safe to accept.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36208"/>
            <a:ext cx="10637215" cy="0"/>
          </a:xfrm>
          <a:prstGeom prst="line">
            <a:avLst/>
          </a:prstGeom>
          <a:noFill/>
          <a:ln w="9525">
            <a:solidFill>
              <a:srgbClr val="DEDE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309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TRUSTPAY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6309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Disputes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00055" y="6309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777240"/>
            <a:ext cx="93570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something goes wrong, both sides get a record.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2900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29000" y="2560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32104" y="2944368"/>
            <a:ext cx="0" cy="109728"/>
          </a:xfrm>
          <a:prstGeom prst="line">
            <a:avLst/>
          </a:prstGeom>
          <a:noFill/>
          <a:ln w="12700">
            <a:solidFill>
              <a:srgbClr val="DEDE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2944368"/>
            <a:ext cx="0" cy="109728"/>
          </a:xfrm>
          <a:prstGeom prst="line">
            <a:avLst/>
          </a:prstGeom>
          <a:noFill/>
          <a:ln w="12700">
            <a:solidFill>
              <a:srgbClr val="DEDE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" y="3054096"/>
            <a:ext cx="2688336" cy="0"/>
          </a:xfrm>
          <a:prstGeom prst="line">
            <a:avLst/>
          </a:prstGeom>
          <a:noFill/>
          <a:ln w="12700">
            <a:solidFill>
              <a:srgbClr val="DEDE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" y="3054096"/>
            <a:ext cx="0" cy="201168"/>
          </a:xfrm>
          <a:prstGeom prst="line">
            <a:avLst/>
          </a:prstGeom>
          <a:noFill/>
          <a:ln w="12700">
            <a:solidFill>
              <a:srgbClr val="DEDEE1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77240" y="331012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60" kern="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358444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and a timeline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32104" y="3858768"/>
            <a:ext cx="0" cy="219456"/>
          </a:xfrm>
          <a:prstGeom prst="line">
            <a:avLst/>
          </a:prstGeom>
          <a:noFill/>
          <a:ln w="12700">
            <a:solidFill>
              <a:srgbClr val="DEDEE1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77240" y="405993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60" kern="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SUMMARY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33425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on file, taking no side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32104" y="4608576"/>
            <a:ext cx="0" cy="219456"/>
          </a:xfrm>
          <a:prstGeom prst="line">
            <a:avLst/>
          </a:prstGeom>
          <a:noFill/>
          <a:ln w="12700">
            <a:solidFill>
              <a:srgbClr val="DEDEE1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777240" y="48097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60" kern="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REVIEW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508406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 reads it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32104" y="5358384"/>
            <a:ext cx="0" cy="219456"/>
          </a:xfrm>
          <a:prstGeom prst="line">
            <a:avLst/>
          </a:prstGeom>
          <a:noFill/>
          <a:ln w="12700">
            <a:solidFill>
              <a:srgbClr val="DEDEE1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777240" y="555955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60" kern="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583387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or refund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83680" y="2286000"/>
            <a:ext cx="0" cy="2926080"/>
          </a:xfrm>
          <a:prstGeom prst="line">
            <a:avLst/>
          </a:prstGeom>
          <a:noFill/>
          <a:ln w="9525">
            <a:solidFill>
              <a:srgbClr val="DEDE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283464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summarises.</a:t>
            </a:r>
            <a:endParaRPr lang="en-US" sz="21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human makes the final decision.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7132320" y="41605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Funds stay frozen for the whole dispute. Neither side can release or refund while it is open.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1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36208"/>
            <a:ext cx="10637215" cy="0"/>
          </a:xfrm>
          <a:prstGeom prst="line">
            <a:avLst/>
          </a:prstGeom>
          <a:noFill/>
          <a:ln w="9525">
            <a:solidFill>
              <a:srgbClr val="3031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309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TRUSTPAY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6309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00055" y="6309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777240"/>
            <a:ext cx="93570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place to see what is happening with your money.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1143000" y="2148840"/>
            <a:ext cx="2514600" cy="3703320"/>
          </a:xfrm>
          <a:prstGeom prst="roundRect">
            <a:avLst>
              <a:gd name="adj" fmla="val 6545"/>
            </a:avLst>
          </a:prstGeom>
          <a:solidFill>
            <a:srgbClr val="0B0B0C"/>
          </a:solidFill>
          <a:ln w="12700">
            <a:solidFill>
              <a:srgbClr val="3031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44168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44168" y="280720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344168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₹12,400.00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44168" y="34747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344168" y="36850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8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₹15,000.00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44168" y="4160520"/>
            <a:ext cx="2103120" cy="0"/>
          </a:xfrm>
          <a:prstGeom prst="line">
            <a:avLst/>
          </a:prstGeom>
          <a:noFill/>
          <a:ln w="9525">
            <a:solidFill>
              <a:srgbClr val="3031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44168" y="43251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Released — UI Design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697480" y="43251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₹10,000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344168" y="4709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— Development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697480" y="47091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₹15,000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344168" y="50932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to wallet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697480" y="50932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₹5,000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" y="59436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screen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023360" y="2148840"/>
            <a:ext cx="0" cy="3108960"/>
          </a:xfrm>
          <a:prstGeom prst="line">
            <a:avLst/>
          </a:prstGeom>
          <a:noFill/>
          <a:ln w="9525">
            <a:solidFill>
              <a:srgbClr val="3031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219456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balance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0" y="24688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be spent or withdrawn right now.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0" y="281635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funds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0" y="309067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 to a milestone. Not spendable by either side.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0" y="343814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projects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0" y="371246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milestone and the state it is in.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0" y="405993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Score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72000" y="433425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standing, with the reasons behind it.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0" y="468172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activity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572000" y="495604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moved, when, and why.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0" y="53949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Balances stay hidden until unlocked with a fingerprint or PIN.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36208"/>
            <a:ext cx="10637215" cy="0"/>
          </a:xfrm>
          <a:prstGeom prst="line">
            <a:avLst/>
          </a:prstGeom>
          <a:noFill/>
          <a:ln w="9525">
            <a:solidFill>
              <a:srgbClr val="DEDE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309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TRUSTPAY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6309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00055" y="6309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777240"/>
            <a:ext cx="93570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as a real product, not a mockup.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20440" y="219456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· Expo · TypeScript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77240" y="2596896"/>
            <a:ext cx="10637215" cy="0"/>
          </a:xfrm>
          <a:prstGeom prst="line">
            <a:avLst/>
          </a:prstGeom>
          <a:noFill/>
          <a:ln w="9525">
            <a:solidFill>
              <a:srgbClr val="DEDE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4440" y="2615184"/>
            <a:ext cx="0" cy="219456"/>
          </a:xfrm>
          <a:prstGeom prst="line">
            <a:avLst/>
          </a:prstGeom>
          <a:noFill/>
          <a:ln w="12700">
            <a:solidFill>
              <a:srgbClr val="DEDEE1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77240" y="285292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20440" y="285292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· Python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77240" y="3255264"/>
            <a:ext cx="10637215" cy="0"/>
          </a:xfrm>
          <a:prstGeom prst="line">
            <a:avLst/>
          </a:prstGeom>
          <a:noFill/>
          <a:ln w="9525">
            <a:solidFill>
              <a:srgbClr val="DEDE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34440" y="3273552"/>
            <a:ext cx="0" cy="219456"/>
          </a:xfrm>
          <a:prstGeom prst="line">
            <a:avLst/>
          </a:prstGeom>
          <a:noFill/>
          <a:ln w="12700">
            <a:solidFill>
              <a:srgbClr val="DEDEE1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77240" y="351129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SERVICES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0440" y="3511296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· Milestones · Escrow · Payments · Disputes · Notifications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77240" y="3913632"/>
            <a:ext cx="10637215" cy="0"/>
          </a:xfrm>
          <a:prstGeom prst="line">
            <a:avLst/>
          </a:prstGeom>
          <a:noFill/>
          <a:ln w="9525">
            <a:solidFill>
              <a:srgbClr val="DEDE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34440" y="3931920"/>
            <a:ext cx="0" cy="219456"/>
          </a:xfrm>
          <a:prstGeom prst="line">
            <a:avLst/>
          </a:prstGeom>
          <a:noFill/>
          <a:ln w="12700">
            <a:solidFill>
              <a:srgbClr val="DEDEE1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777240" y="416966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20440" y="416966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· double-entry ledger · Alembic migrations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77240" y="4572000"/>
            <a:ext cx="10637215" cy="0"/>
          </a:xfrm>
          <a:prstGeom prst="line">
            <a:avLst/>
          </a:prstGeom>
          <a:noFill/>
          <a:ln w="9525">
            <a:solidFill>
              <a:srgbClr val="DEDE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34440" y="4590288"/>
            <a:ext cx="0" cy="219456"/>
          </a:xfrm>
          <a:prstGeom prst="line">
            <a:avLst/>
          </a:prstGeom>
          <a:noFill/>
          <a:ln w="12700">
            <a:solidFill>
              <a:srgbClr val="DEDEE1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777240" y="482803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20440" y="4828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Score · Risk analysis · Agreement analysis · Dispute summary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77240" y="5230368"/>
            <a:ext cx="10637215" cy="0"/>
          </a:xfrm>
          <a:prstGeom prst="line">
            <a:avLst/>
          </a:prstGeom>
          <a:noFill/>
          <a:ln w="9525">
            <a:solidFill>
              <a:srgbClr val="DEDE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486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212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2011680" y="56327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43400" y="5486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5577840" y="56327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endpoints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909560" y="5486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9144000" y="56327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tables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36208"/>
            <a:ext cx="10637215" cy="0"/>
          </a:xfrm>
          <a:prstGeom prst="line">
            <a:avLst/>
          </a:prstGeom>
          <a:noFill/>
          <a:ln w="9525">
            <a:solidFill>
              <a:srgbClr val="3031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309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TRUSTPAY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6309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00055" y="6309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777240"/>
            <a:ext cx="93570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has to exist in the system, not just in the UI.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Rotating refresh tokens with reuse detection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309360" y="21488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09360" y="24231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client funds; only the receiver submits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289864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OTP verification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77240" y="31729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 confirmed by the receiver alone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309360" y="289864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transactions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309360" y="31729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release either fully happens or does not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7240" y="364845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Idempotency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77240" y="392277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retried tap cannot pay twice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09360" y="364845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309360" y="392277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financial action recorded with its actor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7240" y="439826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77240" y="467258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 on codes and passwords is bounded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09360" y="439826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Double-entry ledger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309360" y="467258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Postings must sum to zero, balances derived from them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77240" y="5486400"/>
            <a:ext cx="384048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623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financial action is validated on the server.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236208"/>
            <a:ext cx="10637215" cy="0"/>
          </a:xfrm>
          <a:prstGeom prst="line">
            <a:avLst/>
          </a:prstGeom>
          <a:noFill/>
          <a:ln w="9525">
            <a:solidFill>
              <a:srgbClr val="DEDE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309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TRUSTPAY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6309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TrustPay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00055" y="6309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777240"/>
            <a:ext cx="93570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building the trust layer around transactions.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payment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   →    Receive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77240" y="3429000"/>
            <a:ext cx="10241280" cy="0"/>
          </a:xfrm>
          <a:prstGeom prst="line">
            <a:avLst/>
          </a:prstGeom>
          <a:noFill/>
          <a:ln w="9525">
            <a:solidFill>
              <a:srgbClr val="DEDE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657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TrustPay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9776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75688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487168" y="39776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85616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97096" y="39776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95544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07024" y="39776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205472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616952" y="39776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915400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326880" y="39776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7240" y="4800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Milestones, protected funds, explainable risk, controlled release.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5349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200" kern="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IS THE PRODUCT.</a:t>
            </a:r>
            <a:endParaRPr lang="en-US" sz="3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743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5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TRUSTPAY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77240" y="3566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100" kern="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Trust. Protected.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77240" y="4160520"/>
            <a:ext cx="2377440" cy="0"/>
          </a:xfrm>
          <a:prstGeom prst="line">
            <a:avLst/>
          </a:prstGeom>
          <a:noFill/>
          <a:ln w="12700">
            <a:solidFill>
              <a:srgbClr val="3031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Milestone-based payments for the real world.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TrustPay - Trust. Protected.</dc:title>
  <dc:subject>PptxGenJS Presentation</dc:subject>
  <dc:creator>TrustPay</dc:creator>
  <cp:lastModifiedBy>TrustPay</cp:lastModifiedBy>
  <cp:revision>1</cp:revision>
  <dcterms:created xsi:type="dcterms:W3CDTF">2026-08-25T14:18:13Z</dcterms:created>
  <dcterms:modified xsi:type="dcterms:W3CDTF">2026-08-25T14:18:13Z</dcterms:modified>
</cp:coreProperties>
</file>